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803" r:id="rId2"/>
    <p:sldId id="833" r:id="rId3"/>
    <p:sldId id="824" r:id="rId4"/>
    <p:sldId id="828" r:id="rId5"/>
    <p:sldId id="805" r:id="rId6"/>
    <p:sldId id="829" r:id="rId7"/>
    <p:sldId id="832" r:id="rId8"/>
    <p:sldId id="830" r:id="rId9"/>
    <p:sldId id="8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EEDA7-2A9B-4093-ABF7-DD5B165C5BB4}" v="2" dt="2026-03-27T14:01:49.4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3" autoAdjust="0"/>
    <p:restoredTop sz="94660"/>
  </p:normalViewPr>
  <p:slideViewPr>
    <p:cSldViewPr snapToGrid="0">
      <p:cViewPr varScale="1">
        <p:scale>
          <a:sx n="67" d="100"/>
          <a:sy n="67" d="100"/>
        </p:scale>
        <p:origin x="-17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50" d="100"/>
          <a:sy n="150" d="100"/>
        </p:scale>
        <p:origin x="432" y="-14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ushi Mahesh" userId="7102bb5374fe8ea1" providerId="LiveId" clId="{25E6A6BC-AA8A-4411-9A61-C449AC162891}"/>
    <pc:docChg chg="custSel modSld">
      <pc:chgData name="Khushi Mahesh" userId="7102bb5374fe8ea1" providerId="LiveId" clId="{25E6A6BC-AA8A-4411-9A61-C449AC162891}" dt="2026-03-27T14:01:49.461" v="26" actId="1076"/>
      <pc:docMkLst>
        <pc:docMk/>
      </pc:docMkLst>
      <pc:sldChg chg="addSp delSp modSp mod">
        <pc:chgData name="Khushi Mahesh" userId="7102bb5374fe8ea1" providerId="LiveId" clId="{25E6A6BC-AA8A-4411-9A61-C449AC162891}" dt="2026-03-27T14:01:49.461" v="26" actId="1076"/>
        <pc:sldMkLst>
          <pc:docMk/>
          <pc:sldMk cId="552599215" sldId="828"/>
        </pc:sldMkLst>
        <pc:spChg chg="mod">
          <ac:chgData name="Khushi Mahesh" userId="7102bb5374fe8ea1" providerId="LiveId" clId="{25E6A6BC-AA8A-4411-9A61-C449AC162891}" dt="2026-03-27T13:54:54.856" v="6" actId="1076"/>
          <ac:spMkLst>
            <pc:docMk/>
            <pc:sldMk cId="552599215" sldId="828"/>
            <ac:spMk id="5" creationId="{A0662328-0B64-A273-EF54-33CAFC4C7D3D}"/>
          </ac:spMkLst>
        </pc:spChg>
        <pc:spChg chg="add del mod">
          <ac:chgData name="Khushi Mahesh" userId="7102bb5374fe8ea1" providerId="LiveId" clId="{25E6A6BC-AA8A-4411-9A61-C449AC162891}" dt="2026-03-27T13:57:09.436" v="17" actId="478"/>
          <ac:spMkLst>
            <pc:docMk/>
            <pc:sldMk cId="552599215" sldId="828"/>
            <ac:spMk id="9" creationId="{C7AD0645-514D-799A-008A-716DB074E4E7}"/>
          </ac:spMkLst>
        </pc:spChg>
        <pc:spChg chg="mod">
          <ac:chgData name="Khushi Mahesh" userId="7102bb5374fe8ea1" providerId="LiveId" clId="{25E6A6BC-AA8A-4411-9A61-C449AC162891}" dt="2026-03-27T13:55:14.816" v="10" actId="1076"/>
          <ac:spMkLst>
            <pc:docMk/>
            <pc:sldMk cId="552599215" sldId="828"/>
            <ac:spMk id="10" creationId="{32452C2C-3918-8A96-6480-756C4B5C080C}"/>
          </ac:spMkLst>
        </pc:spChg>
        <pc:spChg chg="mod">
          <ac:chgData name="Khushi Mahesh" userId="7102bb5374fe8ea1" providerId="LiveId" clId="{25E6A6BC-AA8A-4411-9A61-C449AC162891}" dt="2026-03-27T13:55:01.379" v="8" actId="1076"/>
          <ac:spMkLst>
            <pc:docMk/>
            <pc:sldMk cId="552599215" sldId="828"/>
            <ac:spMk id="11" creationId="{45E41ABF-2F60-A263-95C8-E14306E14A69}"/>
          </ac:spMkLst>
        </pc:spChg>
        <pc:spChg chg="mod">
          <ac:chgData name="Khushi Mahesh" userId="7102bb5374fe8ea1" providerId="LiveId" clId="{25E6A6BC-AA8A-4411-9A61-C449AC162891}" dt="2026-03-27T13:55:30.751" v="12" actId="1076"/>
          <ac:spMkLst>
            <pc:docMk/>
            <pc:sldMk cId="552599215" sldId="828"/>
            <ac:spMk id="12" creationId="{0B286444-8E2A-641A-F565-AD3FEB573CCE}"/>
          </ac:spMkLst>
        </pc:spChg>
        <pc:spChg chg="add del mod">
          <ac:chgData name="Khushi Mahesh" userId="7102bb5374fe8ea1" providerId="LiveId" clId="{25E6A6BC-AA8A-4411-9A61-C449AC162891}" dt="2026-03-27T14:00:00.385" v="24" actId="478"/>
          <ac:spMkLst>
            <pc:docMk/>
            <pc:sldMk cId="552599215" sldId="828"/>
            <ac:spMk id="14" creationId="{13CB133E-0B2A-EC55-7DEA-954084983254}"/>
          </ac:spMkLst>
        </pc:spChg>
        <pc:spChg chg="add mod">
          <ac:chgData name="Khushi Mahesh" userId="7102bb5374fe8ea1" providerId="LiveId" clId="{25E6A6BC-AA8A-4411-9A61-C449AC162891}" dt="2026-03-27T14:01:49.461" v="26" actId="1076"/>
          <ac:spMkLst>
            <pc:docMk/>
            <pc:sldMk cId="552599215" sldId="828"/>
            <ac:spMk id="15" creationId="{2C8B96EE-A414-3788-CE59-F5494E3EBA3F}"/>
          </ac:spMkLst>
        </pc:spChg>
        <pc:picChg chg="mod">
          <ac:chgData name="Khushi Mahesh" userId="7102bb5374fe8ea1" providerId="LiveId" clId="{25E6A6BC-AA8A-4411-9A61-C449AC162891}" dt="2026-03-27T13:54:48.238" v="5" actId="1076"/>
          <ac:picMkLst>
            <pc:docMk/>
            <pc:sldMk cId="552599215" sldId="828"/>
            <ac:picMk id="4" creationId="{52489639-2FA0-E129-3EE2-B72C76D2AC92}"/>
          </ac:picMkLst>
        </pc:picChg>
        <pc:picChg chg="mod">
          <ac:chgData name="Khushi Mahesh" userId="7102bb5374fe8ea1" providerId="LiveId" clId="{25E6A6BC-AA8A-4411-9A61-C449AC162891}" dt="2026-03-27T13:54:57.489" v="7" actId="1076"/>
          <ac:picMkLst>
            <pc:docMk/>
            <pc:sldMk cId="552599215" sldId="828"/>
            <ac:picMk id="6" creationId="{13BF1DC1-2AF5-CC4E-54A1-CA0DC90C82D0}"/>
          </ac:picMkLst>
        </pc:picChg>
        <pc:picChg chg="mod">
          <ac:chgData name="Khushi Mahesh" userId="7102bb5374fe8ea1" providerId="LiveId" clId="{25E6A6BC-AA8A-4411-9A61-C449AC162891}" dt="2026-03-27T13:59:41.299" v="21" actId="1076"/>
          <ac:picMkLst>
            <pc:docMk/>
            <pc:sldMk cId="552599215" sldId="828"/>
            <ac:picMk id="7" creationId="{9844AA98-CC8E-9404-DA98-7FAC3CC802CC}"/>
          </ac:picMkLst>
        </pc:picChg>
        <pc:picChg chg="mod">
          <ac:chgData name="Khushi Mahesh" userId="7102bb5374fe8ea1" providerId="LiveId" clId="{25E6A6BC-AA8A-4411-9A61-C449AC162891}" dt="2026-03-27T13:55:07.824" v="9" actId="1076"/>
          <ac:picMkLst>
            <pc:docMk/>
            <pc:sldMk cId="552599215" sldId="828"/>
            <ac:picMk id="8" creationId="{E09EFC93-60CA-EB38-22B4-0A3AE1C8724B}"/>
          </ac:picMkLst>
        </pc:picChg>
      </pc:sldChg>
      <pc:sldChg chg="modSp mod">
        <pc:chgData name="Khushi Mahesh" userId="7102bb5374fe8ea1" providerId="LiveId" clId="{25E6A6BC-AA8A-4411-9A61-C449AC162891}" dt="2026-03-27T13:54:28.410" v="4" actId="20577"/>
        <pc:sldMkLst>
          <pc:docMk/>
          <pc:sldMk cId="259496017" sldId="833"/>
        </pc:sldMkLst>
        <pc:graphicFrameChg chg="modGraphic">
          <ac:chgData name="Khushi Mahesh" userId="7102bb5374fe8ea1" providerId="LiveId" clId="{25E6A6BC-AA8A-4411-9A61-C449AC162891}" dt="2026-03-27T13:54:28.410" v="4" actId="20577"/>
          <ac:graphicFrameMkLst>
            <pc:docMk/>
            <pc:sldMk cId="259496017" sldId="833"/>
            <ac:graphicFrameMk id="6" creationId="{85182370-2B47-D13B-FC3B-F8B25566CAE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84CAE8-38D5-461C-80C4-1AF2B758DADD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8D782-C295-45AF-8CC4-5EB981288A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587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4ABD5BB5-C395-2DF8-D539-36737393B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72FFC9B4-4278-A514-C0A7-72EAAC723E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:notes">
            <a:extLst>
              <a:ext uri="{FF2B5EF4-FFF2-40B4-BE49-F238E27FC236}">
                <a16:creationId xmlns:a16="http://schemas.microsoft.com/office/drawing/2014/main" id="{C8FFAD72-5149-46B7-A20E-DF4F96DE0E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:notes">
            <a:extLst>
              <a:ext uri="{FF2B5EF4-FFF2-40B4-BE49-F238E27FC236}">
                <a16:creationId xmlns:a16="http://schemas.microsoft.com/office/drawing/2014/main" id="{A97F5C20-8BAD-CE9B-4D38-1CF55F7253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1685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FF4B-C04A-07B0-094D-86746B3E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11CDF-21A0-9FEC-2F88-3F16669D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E9D5F-C289-EA26-CF8B-CB52EFE4B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7C9EC-3730-8AE2-FDAB-25DFF0B1E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52128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07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790FE-2DE2-387C-625F-AACE3FD7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0BB5F-7193-254E-6D58-C49599CA3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2A11E-0DFC-17FB-02F1-F2832FBB4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Talk about how they are managing their documents, how google docs does automatic versioning</a:t>
            </a:r>
          </a:p>
          <a:p>
            <a:endParaRPr lang="en-IN" dirty="0"/>
          </a:p>
          <a:p>
            <a:r>
              <a:rPr lang="en-IN" dirty="0"/>
              <a:t>As them what they know  about Android and </a:t>
            </a:r>
            <a:r>
              <a:rPr lang="en-IN" dirty="0" err="1"/>
              <a:t>IoS</a:t>
            </a:r>
            <a:r>
              <a:rPr lang="en-IN" dirty="0"/>
              <a:t> versions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4184-A693-CBEB-6603-80242D92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39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59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5F895-5022-38DA-2054-0C369F380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18D03-72B5-B7EA-E56D-FEE96073D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B98BE-F9C6-D5BF-E732-2895FF121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E643-4F9A-B030-FD04-51F4A8BA2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10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B7A1-F227-707B-7BDC-D8504321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22DB9F-8180-6707-CF03-AF3179783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06CB4-CBD8-AEBB-903A-0350DDF7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16E92-3E9E-2C9C-DCEB-A027251CF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087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2D362-4CC2-1D7D-5B37-272761D9F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E08CF-FFD7-C7F1-F7C9-8C0198C9E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2D4EC-36D9-9636-CD33-D59AAB049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B67E4-279A-3BB1-BEE4-9C8B181D0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196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86D0-C302-35A2-A260-3CDD14B6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58981-14D0-7908-694C-4FDB3C4F9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4AD2F-6AE3-A62A-2AF4-C18F91CE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Only stress on the 1</a:t>
            </a:r>
            <a:r>
              <a:rPr lang="en-IN" baseline="30000" dirty="0"/>
              <a:t>st</a:t>
            </a:r>
            <a:r>
              <a:rPr lang="en-IN" dirty="0"/>
              <a:t> sentence – the definition</a:t>
            </a:r>
          </a:p>
          <a:p>
            <a:endParaRPr lang="en-IN" dirty="0"/>
          </a:p>
          <a:p>
            <a:r>
              <a:rPr lang="en-IN" dirty="0"/>
              <a:t>Come back to the 2</a:t>
            </a:r>
            <a:r>
              <a:rPr lang="en-IN" baseline="30000" dirty="0"/>
              <a:t>nd</a:t>
            </a:r>
            <a:r>
              <a:rPr lang="en-IN" dirty="0"/>
              <a:t> sentence in the end as part of revision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B14A88-FC08-9C8A-7686-6A2CB491B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8D782-C295-45AF-8CC4-5EB981288A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9203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hite">
  <p:cSld name="Cover 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 descr="C:\Users\Admin\Downloads\ilovepdf_pages-to-jpg (1)\RU_PPT Template-White Blank_page-0001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19319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/>
          <p:nvPr/>
        </p:nvSpPr>
        <p:spPr>
          <a:xfrm>
            <a:off x="685800" y="58801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8769350" y="5486400"/>
            <a:ext cx="3422650" cy="97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9;p2"/>
          <p:cNvGrpSpPr/>
          <p:nvPr/>
        </p:nvGrpSpPr>
        <p:grpSpPr>
          <a:xfrm>
            <a:off x="9220200" y="5410200"/>
            <a:ext cx="2601503" cy="1082742"/>
            <a:chOff x="10616154" y="97913"/>
            <a:chExt cx="3619726" cy="1349912"/>
          </a:xfrm>
        </p:grpSpPr>
        <p:pic>
          <p:nvPicPr>
            <p:cNvPr id="20" name="Google Shape;20;p2" descr="NIRF — SAVEETHA SCHOOL OF MANAGEMENT"/>
            <p:cNvPicPr preferRelativeResize="0"/>
            <p:nvPr/>
          </p:nvPicPr>
          <p:blipFill rotWithShape="1">
            <a:blip r:embed="rId3">
              <a:alphaModFix/>
            </a:blip>
            <a:srcRect l="27517" t="4377" r="28920" b="7151"/>
            <a:stretch/>
          </p:blipFill>
          <p:spPr>
            <a:xfrm>
              <a:off x="12122688" y="97913"/>
              <a:ext cx="843474" cy="5922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 descr="Bharath University - Top University In India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737939" y="182966"/>
              <a:ext cx="1158298" cy="4308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2" descr="CREDISAPP for Ratings - Eloit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3072901" y="114292"/>
              <a:ext cx="1155067" cy="5758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3;p2" descr="MHRD | Innovation Cell - Home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616154" y="789734"/>
              <a:ext cx="1857797" cy="6580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Google Shape;24;p2" descr="Institution's Innovation Council | MHRD"/>
            <p:cNvPicPr preferRelativeResize="0"/>
            <p:nvPr/>
          </p:nvPicPr>
          <p:blipFill rotWithShape="1">
            <a:blip r:embed="rId7">
              <a:alphaModFix/>
            </a:blip>
            <a:srcRect l="8879" t="20720" r="8879" b="24345"/>
            <a:stretch/>
          </p:blipFill>
          <p:spPr>
            <a:xfrm>
              <a:off x="12886182" y="774201"/>
              <a:ext cx="1349698" cy="63758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" name="Google Shape;25;p2"/>
          <p:cNvSpPr txBox="1">
            <a:spLocks noGrp="1"/>
          </p:cNvSpPr>
          <p:nvPr>
            <p:ph type="title"/>
          </p:nvPr>
        </p:nvSpPr>
        <p:spPr>
          <a:xfrm>
            <a:off x="1058553" y="3124200"/>
            <a:ext cx="8421823" cy="175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4000"/>
              <a:buFont typeface="Roboto Medium"/>
              <a:buNone/>
              <a:defRPr sz="40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2"/>
          <p:cNvSpPr txBox="1">
            <a:spLocks noGrp="1"/>
          </p:cNvSpPr>
          <p:nvPr>
            <p:ph type="body" idx="1"/>
          </p:nvPr>
        </p:nvSpPr>
        <p:spPr>
          <a:xfrm>
            <a:off x="1046572" y="5129788"/>
            <a:ext cx="6755716" cy="40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500"/>
              <a:buFont typeface="Arial"/>
              <a:buNone/>
              <a:defRPr sz="2500" b="0" i="0" u="none" strike="noStrike" cap="none">
                <a:solidFill>
                  <a:srgbClr val="FF6600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859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White">
  <p:cSld name="Agenda White"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3" descr="C:\Users\Admin\Downloads\ilovepdf_pages-to-jpg (3)\RU_PPT Template-White Blank (1)_page-000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733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"/>
          <p:cNvSpPr txBox="1">
            <a:spLocks noGrp="1"/>
          </p:cNvSpPr>
          <p:nvPr>
            <p:ph type="sldNum" idx="12"/>
          </p:nvPr>
        </p:nvSpPr>
        <p:spPr>
          <a:xfrm>
            <a:off x="11367146" y="6096000"/>
            <a:ext cx="5962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0" marR="0"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0" marR="0"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marL="0" marR="0"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marL="0" marR="0"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marL="0" marR="0"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marL="0" marR="0"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marL="0" marR="0"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marL="0" marR="0"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 Medium"/>
              <a:buNone/>
              <a:defRPr sz="1800" b="0" i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695400" y="395786"/>
            <a:ext cx="6211927" cy="838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Roboto Medium"/>
              <a:buNone/>
              <a:defRPr sz="28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body" idx="1"/>
          </p:nvPr>
        </p:nvSpPr>
        <p:spPr>
          <a:xfrm>
            <a:off x="695400" y="1773936"/>
            <a:ext cx="10801201" cy="432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marL="914400" marR="0" lvl="1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rgbClr val="7F7F7F"/>
              </a:buClr>
              <a:buSzPts val="2400"/>
              <a:buFont typeface="Arial"/>
              <a:buAutoNum type="arabicPeriod"/>
              <a:defRPr sz="2400" b="0" i="0" u="none" strike="noStrike" cap="none">
                <a:solidFill>
                  <a:srgbClr val="7F7F7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222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2935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21777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9225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7447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81107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9305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619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7921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287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2402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7738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hyperlink" Target="https://youtu.be/Oa-6wuGLrJo?si=vQWxO0uiwCAZdYUj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EB35E84-5960-AA15-D5D2-FCDA928FD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>
            <a:extLst>
              <a:ext uri="{FF2B5EF4-FFF2-40B4-BE49-F238E27FC236}">
                <a16:creationId xmlns:a16="http://schemas.microsoft.com/office/drawing/2014/main" id="{0794CBDF-89DA-68F4-4998-89F67853C47F}"/>
              </a:ext>
            </a:extLst>
          </p:cNvPr>
          <p:cNvSpPr txBox="1"/>
          <p:nvPr/>
        </p:nvSpPr>
        <p:spPr>
          <a:xfrm>
            <a:off x="1606826" y="4364173"/>
            <a:ext cx="8978347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32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Contract And Financial Intelligence Platform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			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7" name="Google Shape;107;p15">
            <a:extLst>
              <a:ext uri="{FF2B5EF4-FFF2-40B4-BE49-F238E27FC236}">
                <a16:creationId xmlns:a16="http://schemas.microsoft.com/office/drawing/2014/main" id="{5715D715-9E59-BD2C-C8BA-7435D7135AF7}"/>
              </a:ext>
            </a:extLst>
          </p:cNvPr>
          <p:cNvSpPr txBox="1"/>
          <p:nvPr/>
        </p:nvSpPr>
        <p:spPr>
          <a:xfrm>
            <a:off x="1176619" y="2828856"/>
            <a:ext cx="98387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School of Compu</a:t>
            </a:r>
            <a:r>
              <a:rPr lang="en-US" sz="3600" b="1" kern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 Science &amp; Engineering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AI Application Development – IA1 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260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735E7-678C-8AF0-B273-A067CA79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CF152-678E-EC39-589A-AFB6DAA8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Team members &amp; roles</a:t>
            </a:r>
            <a:endParaRPr lang="en-US" sz="3200" b="1" dirty="0">
              <a:solidFill>
                <a:schemeClr val="tx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182370-2B47-D13B-FC3B-F8B25566C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304790"/>
              </p:ext>
            </p:extLst>
          </p:nvPr>
        </p:nvGraphicFramePr>
        <p:xfrm>
          <a:off x="1045029" y="1415143"/>
          <a:ext cx="10341428" cy="4360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0714">
                  <a:extLst>
                    <a:ext uri="{9D8B030D-6E8A-4147-A177-3AD203B41FA5}">
                      <a16:colId xmlns:a16="http://schemas.microsoft.com/office/drawing/2014/main" val="50089967"/>
                    </a:ext>
                  </a:extLst>
                </a:gridCol>
                <a:gridCol w="5170714">
                  <a:extLst>
                    <a:ext uri="{9D8B030D-6E8A-4147-A177-3AD203B41FA5}">
                      <a16:colId xmlns:a16="http://schemas.microsoft.com/office/drawing/2014/main" val="975677717"/>
                    </a:ext>
                  </a:extLst>
                </a:gridCol>
              </a:tblGrid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Role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729165"/>
                  </a:ext>
                </a:extLst>
              </a:tr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Khushi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Head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477258"/>
                  </a:ext>
                </a:extLst>
              </a:tr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Surya Priya 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Customer Contact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1612009"/>
                  </a:ext>
                </a:extLst>
              </a:tr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 Sujay Gowda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Development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89344"/>
                  </a:ext>
                </a:extLst>
              </a:tr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Pavani 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 Lead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502386"/>
                  </a:ext>
                </a:extLst>
              </a:tr>
              <a:tr h="72683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Olivia Sam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Developer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0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496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5886C-2AC8-ED81-81E1-EB56CE9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8B1A-D73F-F2F6-5303-A4369C4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395786"/>
            <a:ext cx="7937961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Problem Statement</a:t>
            </a:r>
            <a:endParaRPr 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C28EA-830E-81C1-7404-A72E3E5F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107" y="2444974"/>
            <a:ext cx="10519785" cy="1681614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 algn="just">
              <a:spcBef>
                <a:spcPts val="27"/>
              </a:spcBef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Many users sign contracts without understanding complex legal terms, leading to hidden risks and financial </a:t>
            </a:r>
            <a:r>
              <a:rPr lang="en-US" sz="2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loss.There</a:t>
            </a: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no simple way to identify penalties, unfair clauses, or actual financial impact before signing.</a:t>
            </a:r>
            <a:endParaRPr lang="en-US" sz="2800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32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14202-8164-A88E-0CA6-8593095C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E602-D398-31B9-4AEB-C32E61CFB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895" y="0"/>
            <a:ext cx="7937961" cy="838202"/>
          </a:xfrm>
        </p:spPr>
        <p:txBody>
          <a:bodyPr/>
          <a:lstStyle/>
          <a:p>
            <a:r>
              <a:rPr lang="en-US" sz="3200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</a:rPr>
              <a:t>User/ Customer Understanding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489639-2FA0-E129-3EE2-B72C76D2AC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11" y="681891"/>
            <a:ext cx="3744110" cy="22270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F1DC1-2AF5-CC4E-54A1-CA0DC90C82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94" r="9175"/>
          <a:stretch>
            <a:fillRect/>
          </a:stretch>
        </p:blipFill>
        <p:spPr>
          <a:xfrm>
            <a:off x="986611" y="3317331"/>
            <a:ext cx="3744110" cy="22270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44AA98-CC8E-9404-DA98-7FAC3CC802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398" y="3267022"/>
            <a:ext cx="3744110" cy="22270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9EFC93-60CA-EB38-22B4-0A3AE1C872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01" y="681892"/>
            <a:ext cx="3744110" cy="22270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662328-0B64-A273-EF54-33CAFC4C7D3D}"/>
              </a:ext>
            </a:extLst>
          </p:cNvPr>
          <p:cNvSpPr txBox="1"/>
          <p:nvPr/>
        </p:nvSpPr>
        <p:spPr>
          <a:xfrm>
            <a:off x="1041945" y="2959246"/>
            <a:ext cx="363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Naptico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Green Energy </a:t>
            </a:r>
            <a:r>
              <a:rPr lang="en-I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Solars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Private Limited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52C2C-3918-8A96-6480-756C4B5C080C}"/>
              </a:ext>
            </a:extLst>
          </p:cNvPr>
          <p:cNvSpPr txBox="1"/>
          <p:nvPr/>
        </p:nvSpPr>
        <p:spPr>
          <a:xfrm>
            <a:off x="7805927" y="2959245"/>
            <a:ext cx="363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Khushi Medico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E41ABF-2F60-A263-95C8-E14306E14A69}"/>
              </a:ext>
            </a:extLst>
          </p:cNvPr>
          <p:cNvSpPr txBox="1"/>
          <p:nvPr/>
        </p:nvSpPr>
        <p:spPr>
          <a:xfrm>
            <a:off x="1097279" y="5563398"/>
            <a:ext cx="363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 Auditor and Tech-Savvy Professional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86444-8E2A-641A-F565-AD3FEB573CCE}"/>
              </a:ext>
            </a:extLst>
          </p:cNvPr>
          <p:cNvSpPr txBox="1"/>
          <p:nvPr/>
        </p:nvSpPr>
        <p:spPr>
          <a:xfrm>
            <a:off x="7957165" y="5563398"/>
            <a:ext cx="36334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Amrutha Associates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2C8B96EE-A414-3788-CE59-F5494E3EB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3369" y="58711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7"/>
              </a:rPr>
              <a:t>https://youtu.be/Oa-6wuGLrJo?si=vQWxO0uiwCAZdYUj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259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22C4-7666-AFE3-A07F-5A5D3E72C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FFD-F5AA-B7BE-FD50-CA673450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07" y="0"/>
            <a:ext cx="6211927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</a:rPr>
              <a:t>Ideal Customer Profile (ICP)</a:t>
            </a:r>
            <a:endParaRPr lang="en-US" sz="3200" b="1" u="sng" dirty="0">
              <a:solidFill>
                <a:schemeClr val="tx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37F04-AAE7-1412-D97C-6869CE5F9DB2}"/>
              </a:ext>
            </a:extLst>
          </p:cNvPr>
          <p:cNvSpPr txBox="1"/>
          <p:nvPr/>
        </p:nvSpPr>
        <p:spPr>
          <a:xfrm>
            <a:off x="893007" y="969583"/>
            <a:ext cx="1040598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Demographic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professionals (age 25–50)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Roles: Administrators, Managers, Data Analysts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Organizations: Colleges, NGOs, Small &amp; Medium Businesses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Skills: Basic computer knowledge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Psychographic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Wants to save time in analyzing documents and reports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manual analysis repetitive and time-consuming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Prefers simple and automated tools for ease of use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quick insights for faster decision-making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Values clarity and accuracy, especially before making decisions</a:t>
            </a:r>
          </a:p>
        </p:txBody>
      </p:sp>
    </p:spTree>
    <p:extLst>
      <p:ext uri="{BB962C8B-B14F-4D97-AF65-F5344CB8AC3E}">
        <p14:creationId xmlns:p14="http://schemas.microsoft.com/office/powerpoint/2010/main" val="111861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636C-7729-37EE-3B86-F1312175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9B525-9939-960F-B359-A89DCC475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28" y="0"/>
            <a:ext cx="6211927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Customer Persona (CP)</a:t>
            </a: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9794A7-673E-8375-F4F7-96B7DCD04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429" y="659011"/>
            <a:ext cx="3050335" cy="28893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4E5397-EAFC-ACF9-B30D-C47CD3F14A43}"/>
              </a:ext>
            </a:extLst>
          </p:cNvPr>
          <p:cNvSpPr txBox="1"/>
          <p:nvPr/>
        </p:nvSpPr>
        <p:spPr>
          <a:xfrm>
            <a:off x="596228" y="3548374"/>
            <a:ext cx="50113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Rahul Sharma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32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Freelance Software Developer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Bengaluru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Type: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Independent Freelancer (IT Services)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C005E3-3CFD-EA01-0E71-BEC3BE0B7BD5}"/>
              </a:ext>
            </a:extLst>
          </p:cNvPr>
          <p:cNvSpPr txBox="1"/>
          <p:nvPr/>
        </p:nvSpPr>
        <p:spPr>
          <a:xfrm>
            <a:off x="5351270" y="659011"/>
            <a:ext cx="6571161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Demographic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professional working as a freelancer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Manages 5–10 clients monthly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to moderate technical knowledge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Psychographic Profile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Frequently deals with contracts and technical documents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Wants quick and simple understanding of complex content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manual reading and analysis time-consuming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Prefers automated tools that simplify information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clear insights before making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9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599-550D-934B-834C-4B89AA62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FA05-49D5-8965-5B47-01BD88A22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0"/>
            <a:ext cx="6211927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Product USP</a:t>
            </a:r>
            <a:endParaRPr 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32972-71CF-5F3C-FC9D-E36A0D2D5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7811" y="616945"/>
            <a:ext cx="10916378" cy="4847421"/>
          </a:xfrm>
        </p:spPr>
        <p:txBody>
          <a:bodyPr spcFirstLastPara="1" vert="horz" wrap="square" lIns="121920" tIns="60960" rIns="121920" bIns="60960" rtlCol="0" anchor="t" anchorCtr="0">
            <a:normAutofit/>
          </a:bodyPr>
          <a:lstStyle/>
          <a:p>
            <a:pPr marL="0" indent="0">
              <a:spcBef>
                <a:spcPts val="27"/>
              </a:spcBef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lnSpc>
                <a:spcPct val="120000"/>
              </a:lnSpc>
              <a:spcBef>
                <a:spcPts val="27"/>
              </a:spcBef>
              <a:buNone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Simplifies complex contracts into easy language, saving time and confusion</a:t>
            </a:r>
            <a:b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Detects hidden risks, penalties, and unfair clauses before signing</a:t>
            </a:r>
            <a:b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Calculates real financial impact, helping users avoid unexpected losses</a:t>
            </a:r>
            <a:b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AI chatbot for instant contract-related queries</a:t>
            </a:r>
            <a:b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Unique combination of contract analysis + risk detection + financial simulation in one platform</a:t>
            </a:r>
            <a:b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Unlike other tools, it focuses on both legal understanding and financial intelligence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67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1565F-E02D-F94D-F107-CD2878B8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3AFC-E9B9-CA66-D2C9-C42DE2F1D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99" y="0"/>
            <a:ext cx="7045685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Use Cases &amp; High level Requirements</a:t>
            </a:r>
            <a:endParaRPr 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AADE7-0B30-77FD-7C8B-41A1B856F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99" y="955067"/>
            <a:ext cx="10801201" cy="4749562"/>
          </a:xfrm>
        </p:spPr>
        <p:txBody>
          <a:bodyPr spcFirstLastPara="1" vert="horz" wrap="square" lIns="121920" tIns="60960" rIns="121920" bIns="60960" rtlCol="0" anchor="t" anchorCtr="0">
            <a:normAutofit lnSpcReduction="10000"/>
          </a:bodyPr>
          <a:lstStyle/>
          <a:p>
            <a:pPr marL="762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Contract Risk Analysis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Upload agreement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Highlighted risks + clear summary</a:t>
            </a:r>
          </a:p>
          <a:p>
            <a:pPr marL="762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Clause Simplification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Complex legal text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Simple, easy-to-understand explanation</a:t>
            </a:r>
          </a:p>
          <a:p>
            <a:pPr marL="762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Missing Clause Detection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Draft agreement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Alerts for missing critical clauses (e.g., termination, penalties)</a:t>
            </a:r>
          </a:p>
          <a:p>
            <a:pPr marL="762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4. Payment &amp; Liability Breakdown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Input: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Financial clauses in contract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US" i="1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Output: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Clear breakdown of payment structure and user obligations</a:t>
            </a:r>
          </a:p>
          <a:p>
            <a:pPr marL="0" indent="0">
              <a:spcBef>
                <a:spcPts val="27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748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E1081-ED83-5A03-3AF1-E77B4D78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EBF3-B90A-D780-71A8-0F6F74206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400" y="0"/>
            <a:ext cx="7045685" cy="838202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</a:rPr>
              <a:t>Prototype Demo</a:t>
            </a:r>
            <a:endParaRPr lang="en-US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BC467C-1123-D120-313B-48BD21BA4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32" y="1086916"/>
            <a:ext cx="5385816" cy="42257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57D86D-BA15-391B-6F68-A7BCD219F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114" y="1086916"/>
            <a:ext cx="6151054" cy="422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3127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2507</TotalTime>
  <Words>656</Words>
  <Application>Microsoft Office PowerPoint</Application>
  <PresentationFormat>Widescreen</PresentationFormat>
  <Paragraphs>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Roboto Medium</vt:lpstr>
      <vt:lpstr>Times New Roman</vt:lpstr>
      <vt:lpstr>1_Office Theme</vt:lpstr>
      <vt:lpstr>PowerPoint Presentation</vt:lpstr>
      <vt:lpstr>Team members &amp; roles</vt:lpstr>
      <vt:lpstr>Problem Statement</vt:lpstr>
      <vt:lpstr> User/ Customer Understanding</vt:lpstr>
      <vt:lpstr>Ideal Customer Profile (ICP)</vt:lpstr>
      <vt:lpstr>Customer Persona (CP)</vt:lpstr>
      <vt:lpstr>Product USP</vt:lpstr>
      <vt:lpstr>Use Cases &amp; High level Requirements</vt:lpstr>
      <vt:lpstr>Prototype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Ramaraj Sri</dc:creator>
  <cp:lastModifiedBy>Khushi Mahesh</cp:lastModifiedBy>
  <cp:revision>6</cp:revision>
  <dcterms:created xsi:type="dcterms:W3CDTF">2025-09-17T04:00:39Z</dcterms:created>
  <dcterms:modified xsi:type="dcterms:W3CDTF">2026-03-27T14:01:51Z</dcterms:modified>
</cp:coreProperties>
</file>